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7768bbc1c745e6" /><Relationship Type="http://schemas.openxmlformats.org/officeDocument/2006/relationships/extended-properties" Target="/docProps/app.xml" Id="R3b8f85590d4b405e" /><Relationship Type="http://schemas.openxmlformats.org/officeDocument/2006/relationships/officeDocument" Target="/ppt/presentation.xml" Id="Rfe146868a6554331" /></Relationships>
</file>

<file path=ppt/presentation.xml><?xml version="1.0" encoding="utf-8"?>
<p:presentation xmlns:p="http://schemas.openxmlformats.org/presentationml/2006/main">
  <p:sldMasterIdLst>
    <p:sldMasterId xmlns:r="http://schemas.openxmlformats.org/officeDocument/2006/relationships" id="2147483648" r:id="R46f5a916ee484fc8"/>
  </p:sldMasterIdLst>
  <p:notesMasterIdLst>
    <p:notesMasterId xmlns:r="http://schemas.openxmlformats.org/officeDocument/2006/relationships" r:id="R2e14a1fa4a0f455b"/>
  </p:notesMasterIdLst>
  <p:sldIdLst>
    <p:sldId xmlns:r="http://schemas.openxmlformats.org/officeDocument/2006/relationships" id="256" r:id="Re86b4e7002654df8"/>
    <p:sldId xmlns:r="http://schemas.openxmlformats.org/officeDocument/2006/relationships" id="257" r:id="Ra61b6c8f3d4b402b"/>
    <p:sldId xmlns:r="http://schemas.openxmlformats.org/officeDocument/2006/relationships" id="258" r:id="Ra38ac9c9c50541ed"/>
    <p:sldId xmlns:r="http://schemas.openxmlformats.org/officeDocument/2006/relationships" id="259" r:id="R9babd4b2441841bc"/>
    <p:sldId xmlns:r="http://schemas.openxmlformats.org/officeDocument/2006/relationships" id="260" r:id="R497c8c2528a44ac6"/>
    <p:sldId xmlns:r="http://schemas.openxmlformats.org/officeDocument/2006/relationships" id="261" r:id="R494cd7617d2e4671"/>
    <p:sldId xmlns:r="http://schemas.openxmlformats.org/officeDocument/2006/relationships" id="262" r:id="Rc5be1b6cd76742cb"/>
    <p:sldId xmlns:r="http://schemas.openxmlformats.org/officeDocument/2006/relationships" id="263" r:id="Re70c14f4c5ee4c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722e4415f240df" /><Relationship Type="http://schemas.openxmlformats.org/officeDocument/2006/relationships/slideMaster" Target="/ppt/slideMasters/slideMaster1.xml" Id="R46f5a916ee484fc8" /><Relationship Type="http://schemas.openxmlformats.org/officeDocument/2006/relationships/notesMaster" Target="/ppt/notesMasters/notesMaster1.xml" Id="R2e14a1fa4a0f455b" /><Relationship Type="http://schemas.openxmlformats.org/officeDocument/2006/relationships/presProps" Target="/ppt/presProps.xml" Id="R7f9bb6a8302b4bef" /><Relationship Type="http://schemas.openxmlformats.org/officeDocument/2006/relationships/tableStyles" Target="/ppt/tableStyles.xml" Id="Rec97fd7099e947ef" /><Relationship Type="http://schemas.openxmlformats.org/officeDocument/2006/relationships/slide" Target="/ppt/slides/slide1.xml" Id="Re86b4e7002654df8" /><Relationship Type="http://schemas.openxmlformats.org/officeDocument/2006/relationships/slide" Target="/ppt/slides/slide2.xml" Id="Ra61b6c8f3d4b402b" /><Relationship Type="http://schemas.openxmlformats.org/officeDocument/2006/relationships/slide" Target="/ppt/slides/slide3.xml" Id="Ra38ac9c9c50541ed" /><Relationship Type="http://schemas.openxmlformats.org/officeDocument/2006/relationships/slide" Target="/ppt/slides/slide4.xml" Id="R9babd4b2441841bc" /><Relationship Type="http://schemas.openxmlformats.org/officeDocument/2006/relationships/slide" Target="/ppt/slides/slide5.xml" Id="R497c8c2528a44ac6" /><Relationship Type="http://schemas.openxmlformats.org/officeDocument/2006/relationships/slide" Target="/ppt/slides/slide6.xml" Id="R494cd7617d2e4671" /><Relationship Type="http://schemas.openxmlformats.org/officeDocument/2006/relationships/slide" Target="/ppt/slides/slide7.xml" Id="Rc5be1b6cd76742cb" /><Relationship Type="http://schemas.openxmlformats.org/officeDocument/2006/relationships/slide" Target="/ppt/slides/slide8.xml" Id="Re70c14f4c5ee4c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7c6aaedebc41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017ad87192458f" /><Relationship Type="http://schemas.openxmlformats.org/officeDocument/2006/relationships/notesMaster" Target="/ppt/notesMasters/notesMaster1.xml" Id="R845983b581384b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663223df4b4a96" /><Relationship Type="http://schemas.openxmlformats.org/officeDocument/2006/relationships/notesMaster" Target="/ppt/notesMasters/notesMaster1.xml" Id="Rb16794630bc84a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2bd77a680041d7" /><Relationship Type="http://schemas.openxmlformats.org/officeDocument/2006/relationships/notesMaster" Target="/ppt/notesMasters/notesMaster1.xml" Id="Rb14c0127deee4e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404c32c275449d" /><Relationship Type="http://schemas.openxmlformats.org/officeDocument/2006/relationships/notesMaster" Target="/ppt/notesMasters/notesMaster1.xml" Id="Rbceb8f775abd4c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42ccdf04db42cf" /><Relationship Type="http://schemas.openxmlformats.org/officeDocument/2006/relationships/notesMaster" Target="/ppt/notesMasters/notesMaster1.xml" Id="Rd017b6f02cf046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767d89ea114107" /><Relationship Type="http://schemas.openxmlformats.org/officeDocument/2006/relationships/notesMaster" Target="/ppt/notesMasters/notesMaster1.xml" Id="R3ce6e0ba78aa4d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a9aa2c357a40ec" /><Relationship Type="http://schemas.openxmlformats.org/officeDocument/2006/relationships/notesMaster" Target="/ppt/notesMasters/notesMaster1.xml" Id="R3971214ef5314c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1ad300a0db4899" /><Relationship Type="http://schemas.openxmlformats.org/officeDocument/2006/relationships/notesMaster" Target="/ppt/notesMasters/notesMaster1.xml" Id="R833e67093e9041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Dulnith. Show the physical prototype immediately. Say: We are Neural-Nexus. Our Intelligent Cane explores affordable obstacle feedback for white-cane users. We have connected an ESP32-C3, ultrasonic sensor, inertial sensor, vibration motor and buzzer. We will demonstrate the local feedback loop and explain what remains. All four members must attend with cameras on. The latest organizer announcement sets 4 minutes demonstration, 2 minutes progress and 4 minutes Q&amp;A; it supersedes the PDF recommendation of 12 minutes. Sources: user-supplied announcement and component confirmation; README.md; supplied Semi Final Guidelines and Evaluation Criteria.pdf.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0:20–2:30. Thenul. Keep the sensor and IMU fixed. Show a flat target at 80, 40, 20 and 10 cm and the actual USB distance reading. Invite the judge to observe sound or feel the secured module. Say: The chart shows the programmed mapping. The live readings show what the hardware is doing. Thresholds apply to measured distance; noise at 60 cm is possible. Values are calculated from integer motor duties 0, 0, 103, 162, 224, 255 divided by 255 and rounded to one decimal place. They are not physical test results or calibrated vibration strength. Missing/invalid ranges disable obstacle feedback; an independent IMU alarm may still sound. Source: firmware/core-sensing/ProximityFeedback.h:13–26 and core-sensing.ino:510–521.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2:30–4:00. Chamith. Keep the obstacle far away, gently tilt the mounted sensor and restore it. Explain that tilt references the sensor Z axis and there is no 1.5-second debounce. Do not drop the hardware or simulate a human fall. Show near/far feedback with the phone disconnected. If BLE has already been verified, briefly show NUS notifications first; otherwise use USB. Say that BLE is implemented but caregiver location delivery is future work. Source: core-sensing.ino:473–491 and :516–521. This is expected firmware behavior; physical operation needs a real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 Suneth. Say: Our hardware is connected. The active firmware implements proximity feedback, the cane alarm and BLE telemetry. The C3 build passes and our existing feedback tests pass. We still need physical measurement records. Do not claim full test coverage. Host checks cover boundaries, invalid values, monotonic feedback, polarity, beep transitions and timer rollover. Compile used Arduino-ESP32 3.3.2 and succeeded. BLE is code-implemented, not confirmed here as physically tested. Cost sum: 1400+450+600+250+100=2800 LKR; required divider cost is unentered. Sources: docs/test-logs/2026-10-05-software-validation.md; hardware/BOM.md; user component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5:00–6:00. Suneth. The event website lists the final on 17 October 2026. Prioritize electrical verification, stable mounting and repeated sensing tests, then improve diagnostic feedback and motion classification. Scope one caregiver integration against available time. Camera/AI and downward sensing remain future work. Explain that 60 cm warning distance itself needs usability evaluation. Source: https://iotrix20.vercel.app/ (read 5 October 2026); docs/architecture.md; source firmware. These are plans, not completed mitigations.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6:00–10:00. All four members. Dulnith handles problem/scope, Thenul ranging/feedback, Chamith firmware/interfaces, Suneth evidence/roadmap. These are suggested speaking roles. Invite one judge-selected target movement. For network loss, demonstrate local feedback. For missing Echo, state unknown range and present behavior, then planned fault indication. For human falls, state the current limitation. For why BLE, explain small messages to a nearby phone without claiming measured power/latency. Appendix slides follow only for questions. Sources: active firmware, docs/architecture.md, hardware/wiring.md, organizer announcement.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ECHO GPIO 1 requires a divider or level converter for a standard 5 V HC-SR04. Motor GPIO 6 drives a module signal input, not bare motor current. The IMU module includes a gyro, but the current alarm uses acceleration. Sensor sampling is attempted every 40 ms, telemetry every 250 ms. Echo and BLE operations block, so no hard timing bound is established. Source: firmware/core-sensing/core-sensing.ino; hardware/wiring.md.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This is the repository wiring reference, not a photograph or proof that the divider is fitted. Power off before rewiring. Standard HC-SR04 Echo is 5 V; a 1 kOhm upper and 1.8 kOhm lower resistor produce about 3.21 V. Confirm GY-521 pull-ups are to 3.3 V and verify the actual module driver and buzzer current. Sources: hardware/circuit_diagram.png; https://documentation.espressif.com/esp32-c3_datasheet_en.html Table 5-4; https://www.adafruit.com/product/3942.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28d9e41adb40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b18ab862334b5f" /><Relationship Type="http://schemas.openxmlformats.org/officeDocument/2006/relationships/slideLayout" Target="/ppt/slideLayouts/slideLayout1.xml" Id="Rb1c2a9a47ca848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c2a9a47ca848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62a8e481be4e5d" /><Relationship Type="http://schemas.openxmlformats.org/officeDocument/2006/relationships/notesSlide" Target="/ppt/notesSlides/notesSlide1.xml" Id="R7a8e236f2d574f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41296a39f241d9" /><Relationship Type="http://schemas.openxmlformats.org/officeDocument/2006/relationships/chart" Target="/ppt/slides/charts/chart1.xml" Id="R2db0bfebd74346ba" /><Relationship Type="http://schemas.openxmlformats.org/officeDocument/2006/relationships/notesSlide" Target="/ppt/notesSlides/notesSlide2.xml" Id="Rcf3840a86eb542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f0f11478504c05" /><Relationship Type="http://schemas.openxmlformats.org/officeDocument/2006/relationships/notesSlide" Target="/ppt/notesSlides/notesSlide3.xml" Id="R55c74018b45a48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0d839d72024186" /><Relationship Type="http://schemas.openxmlformats.org/officeDocument/2006/relationships/notesSlide" Target="/ppt/notesSlides/notesSlide4.xml" Id="Rac2183ab0b2645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32048b2421479b" /><Relationship Type="http://schemas.openxmlformats.org/officeDocument/2006/relationships/notesSlide" Target="/ppt/notesSlides/notesSlide5.xml" Id="Ra9496348406342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1a10a600b445bc" /><Relationship Type="http://schemas.openxmlformats.org/officeDocument/2006/relationships/notesSlide" Target="/ppt/notesSlides/notesSlide6.xml" Id="Ra6b574851bde46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63ddfa046c409c" /><Relationship Type="http://schemas.openxmlformats.org/officeDocument/2006/relationships/notesSlide" Target="/ppt/notesSlides/notesSlide7.xml" Id="Rf0906bbccc9347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85706031b3467d" /><Relationship Type="http://schemas.openxmlformats.org/officeDocument/2006/relationships/image" Target="/ppt/media/image.png" Id="Rc52fa18c6ef9431b" /><Relationship Type="http://schemas.openxmlformats.org/officeDocument/2006/relationships/notesSlide" Target="/ppt/notesSlides/notesSlide8.xml" Id="R0328ab4f4e7944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Commanded motor duty</c:v>
          </c:tx>
          <c:spPr>
            <a:solidFill xmlns:a="http://schemas.openxmlformats.org/drawingml/2006/main">
              <a:srgbClr val="1567DA"/>
            </a:solidFill>
          </c:spPr>
          <c:cat>
            <c:numRef>
              <c:f>'Chart Data'!$A$2:$A$7</c:f>
              <c:numCache>
                <c:formatCode>General</c:formatCode>
                <c:ptCount val="6"/>
                <c:pt idx="0">
                  <c:v>80</c:v>
                </c:pt>
                <c:pt idx="1">
                  <c:v>60</c:v>
                </c:pt>
                <c:pt idx="2">
                  <c:v>59</c:v>
                </c:pt>
                <c:pt idx="3">
                  <c:v>40</c:v>
                </c:pt>
                <c:pt idx="4">
                  <c:v>20</c:v>
                </c:pt>
                <c:pt idx="5">
                  <c:v>10</c:v>
                </c:pt>
              </c:numCache>
            </c:numRef>
          </c:cat>
          <c:val>
            <c:numRef>
              <c:f>'Chart Data'!$B$2:$B$7</c:f>
              <c:numCache>
                <c:formatCode>General</c:formatCode>
                <c:ptCount val="6"/>
                <c:pt idx="0">
                  <c:v>0</c:v>
                </c:pt>
                <c:pt idx="1">
                  <c:v>0</c:v>
                </c:pt>
                <c:pt idx="2">
                  <c:v>40.4</c:v>
                </c:pt>
                <c:pt idx="3">
                  <c:v>63.5</c:v>
                </c:pt>
                <c:pt idx="4">
                  <c:v>87.8</c:v>
                </c:pt>
                <c:pt idx="5">
                  <c:v>100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42B4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Distance input (cm)</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42B43"/>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D6DFE9"/>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Motor duty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Helvetica Neue"/>
                <a:ea typeface="Helvetica Neue"/>
                <a:cs typeface="Helvetica Neue"/>
              </a:defRPr>
            </a:pPr>
          </a:p>
        </c:txPr>
        <c:crossAx val="48650112"/>
        <c:crossBetween val="between"/>
        <c:majorUnit val="25"/>
      </c:valAx>
      <c:spPr>
        <a:solidFill xmlns:a="http://schemas.openxmlformats.org/drawingml/2006/main">
          <a:srgbClr val="F5F7FB"/>
        </a:solidFill>
      </c:spPr>
    </c:plotArea>
    <c:plotVisOnly val="1"/>
  </c:chart>
  <c:spPr>
    <a:solidFill xmlns:a="http://schemas.openxmlformats.org/drawingml/2006/main">
      <a:srgbClr val="F5F7F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8F574D-6CAF-4C15-B5C2-D3A9655B80D9}"/>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Intelligent Cane</a:t>
            </a:r>
          </a:p>
        </p:txBody>
      </p:sp>
      <p:sp>
        <p:nvSpPr>
          <p:cNvPr id="2" name="">
            <a:extLst xmlns:a="http://schemas.openxmlformats.org/drawingml/2006/main">
              <a:ext uri="{FF2B5EF4-FFF2-40B4-BE49-F238E27FC236}">
                <a16:creationId xmlns:a16="http://schemas.microsoft.com/office/drawing/2014/main" id="{BE3C9305-8BF8-4980-81DA-F1F3589EEA83}"/>
              </a:ext>
            </a:extLst>
          </p:cNvPr>
          <p:cNvSpPr>
            <a:spLocks xmlns:a="http://schemas.openxmlformats.org/drawingml/2006/main" noGrp="1"/>
          </p:cNvSpPr>
          <p:nvPr/>
        </p:nvSpPr>
        <p:spPr>
          <a:xfrm xmlns:a="http://schemas.openxmlformats.org/drawingml/2006/main">
            <a:off x="609600" y="19526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5DCE0"/>
                </a:solidFill>
                <a:latin typeface="Helvetica Neue"/>
                <a:ea typeface="Helvetica Neue"/>
                <a:cs typeface="Helvetica Neue"/>
              </a:defRPr>
            </a:pPr>
            <a:r>
              <a:rPr sz="3150" b="0">
                <a:solidFill>
                  <a:srgbClr val="55DCE0"/>
                </a:solidFill>
                <a:latin typeface="Helvetica Neue"/>
                <a:ea typeface="Helvetica Neue"/>
                <a:cs typeface="Helvetica Neue"/>
              </a:rPr>
              <a:t>Supplementary obstacle awareness</a:t>
            </a:r>
          </a:p>
        </p:txBody>
      </p:sp>
      <p:sp>
        <p:nvSpPr>
          <p:cNvPr id="3" name="">
            <a:extLst xmlns:a="http://schemas.openxmlformats.org/drawingml/2006/main">
              <a:ext uri="{FF2B5EF4-FFF2-40B4-BE49-F238E27FC236}">
                <a16:creationId xmlns:a16="http://schemas.microsoft.com/office/drawing/2014/main" id="{E5287452-629F-4102-BEC9-C84FA0BCA505}"/>
              </a:ext>
            </a:extLst>
          </p:cNvPr>
          <p:cNvSpPr>
            <a:spLocks xmlns:a="http://schemas.openxmlformats.org/drawingml/2006/main" noGrp="1"/>
          </p:cNvSpPr>
          <p:nvPr/>
        </p:nvSpPr>
        <p:spPr>
          <a:xfrm xmlns:a="http://schemas.openxmlformats.org/drawingml/2006/main">
            <a:off x="609600" y="28194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A local sensing and feedback prototype</a:t>
            </a:r>
          </a:p>
        </p:txBody>
      </p:sp>
      <p:sp>
        <p:nvSpPr>
          <p:cNvPr id="4" name="">
            <a:extLst xmlns:a="http://schemas.openxmlformats.org/drawingml/2006/main">
              <a:ext uri="{FF2B5EF4-FFF2-40B4-BE49-F238E27FC236}">
                <a16:creationId xmlns:a16="http://schemas.microsoft.com/office/drawing/2014/main" id="{3336D9F8-CA05-46B0-8A11-12172AB34C44}"/>
              </a:ext>
            </a:extLst>
          </p:cNvPr>
          <p:cNvSpPr>
            <a:spLocks xmlns:a="http://schemas.openxmlformats.org/drawingml/2006/main" noGrp="1"/>
          </p:cNvSpPr>
          <p:nvPr/>
        </p:nvSpPr>
        <p:spPr>
          <a:xfrm xmlns:a="http://schemas.openxmlformats.org/drawingml/2006/main">
            <a:off x="609600" y="45339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Neural-Nexus</a:t>
            </a:r>
          </a:p>
        </p:txBody>
      </p:sp>
      <p:sp>
        <p:nvSpPr>
          <p:cNvPr id="5" name="">
            <a:extLst xmlns:a="http://schemas.openxmlformats.org/drawingml/2006/main">
              <a:ext uri="{FF2B5EF4-FFF2-40B4-BE49-F238E27FC236}">
                <a16:creationId xmlns:a16="http://schemas.microsoft.com/office/drawing/2014/main" id="{F832B295-9DA8-4078-B7C5-497CA1A23604}"/>
              </a:ext>
            </a:extLst>
          </p:cNvPr>
          <p:cNvSpPr>
            <a:spLocks xmlns:a="http://schemas.openxmlformats.org/drawingml/2006/main" noGrp="1"/>
          </p:cNvSpPr>
          <p:nvPr/>
        </p:nvSpPr>
        <p:spPr>
          <a:xfrm xmlns:a="http://schemas.openxmlformats.org/drawingml/2006/main">
            <a:off x="609600" y="50958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Dulnith, Thenul, Chamith, Suneth</a:t>
            </a:r>
          </a:p>
        </p:txBody>
      </p:sp>
      <p:sp>
        <p:nvSpPr>
          <p:cNvPr id="6" name="">
            <a:extLst xmlns:a="http://schemas.openxmlformats.org/drawingml/2006/main">
              <a:ext uri="{FF2B5EF4-FFF2-40B4-BE49-F238E27FC236}">
                <a16:creationId xmlns:a16="http://schemas.microsoft.com/office/drawing/2014/main" id="{34DD2AED-710A-4923-9EBD-D4C2389AEAB0}"/>
              </a:ext>
            </a:extLst>
          </p:cNvPr>
          <p:cNvSpPr>
            <a:spLocks xmlns:a="http://schemas.openxmlformats.org/drawingml/2006/main" noGrp="1"/>
          </p:cNvSpPr>
          <p:nvPr/>
        </p:nvSpPr>
        <p:spPr>
          <a:xfrm xmlns:a="http://schemas.openxmlformats.org/drawingml/2006/main">
            <a:off x="609600" y="6000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C4DF"/>
                </a:solidFill>
                <a:latin typeface="Helvetica Neue"/>
                <a:ea typeface="Helvetica Neue"/>
                <a:cs typeface="Helvetica Neue"/>
              </a:defRPr>
            </a:pPr>
            <a:r>
              <a:rPr sz="1650" b="0">
                <a:solidFill>
                  <a:srgbClr val="AEC4DF"/>
                </a:solidFill>
                <a:latin typeface="Helvetica Neue"/>
                <a:ea typeface="Helvetica Neue"/>
                <a:cs typeface="Helvetica Neue"/>
              </a:rPr>
              <a:t>IoTrix 2.0  /  Track A  /  5 October 2026</a:t>
            </a:r>
          </a:p>
        </p:txBody>
      </p:sp>
    </p:spTree>
    <p:extLst>
      <p:ext uri="{BB962C8B-B14F-4D97-AF65-F5344CB8AC3E}">
        <p14:creationId xmlns:p14="http://schemas.microsoft.com/office/powerpoint/2010/main" val="141990286"/>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90EDE8-CF37-438B-86C8-B12981C0EDCE}"/>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43"/>
                </a:solidFill>
                <a:latin typeface="Helvetica Neue"/>
                <a:ea typeface="Helvetica Neue"/>
                <a:cs typeface="Helvetica Neue"/>
              </a:defRPr>
            </a:pPr>
            <a:r>
              <a:rPr sz="3300" b="1">
                <a:solidFill>
                  <a:srgbClr val="142B43"/>
                </a:solidFill>
                <a:latin typeface="Helvetica Neue"/>
                <a:ea typeface="Helvetica Neue"/>
                <a:cs typeface="Helvetica Neue"/>
              </a:rPr>
              <a:t>Distance controls vibration and beep urgency</a:t>
            </a:r>
          </a:p>
        </p:txBody>
      </p:sp>
      <p:graphicFrame>
        <p:nvGraphicFramePr>
          <p:cNvPr id="9" name="Chart"/>
          <p:cNvGraphicFramePr/>
          <p:nvPr/>
        </p:nvGraphicFramePr>
        <p:xfrm>
          <a:off xmlns:a="http://schemas.openxmlformats.org/drawingml/2006/main" x="609600" y="1571625"/>
          <a:ext xmlns:a="http://schemas.openxmlformats.org/drawingml/2006/main" cx="7620000" cy="4191000"/>
        </p:xfrm>
        <a:graphic xmlns:a="http://schemas.openxmlformats.org/drawingml/2006/main">
          <a:graphicData uri="http://schemas.openxmlformats.org/drawingml/2006/chart">
            <c:chart xmlns:r="http://schemas.openxmlformats.org/officeDocument/2006/relationships" xmlns:c="http://schemas.openxmlformats.org/drawingml/2006/chart" r:id="R2db0bfebd74346ba"/>
          </a:graphicData>
        </a:graphic>
      </p:graphicFrame>
      <p:sp>
        <p:nvSpPr>
          <p:cNvPr id="3" name="">
            <a:extLst xmlns:a="http://schemas.openxmlformats.org/drawingml/2006/main">
              <a:ext uri="{FF2B5EF4-FFF2-40B4-BE49-F238E27FC236}">
                <a16:creationId xmlns:a16="http://schemas.microsoft.com/office/drawing/2014/main" id="{9DE656DB-C744-4042-9699-CEB0D11B6C89}"/>
              </a:ext>
            </a:extLst>
          </p:cNvPr>
          <p:cNvSpPr>
            <a:spLocks xmlns:a="http://schemas.openxmlformats.org/drawingml/2006/main" noGrp="1"/>
          </p:cNvSpPr>
          <p:nvPr/>
        </p:nvSpPr>
        <p:spPr>
          <a:xfrm xmlns:a="http://schemas.openxmlformats.org/drawingml/2006/main">
            <a:off x="8667750" y="1809750"/>
            <a:ext cx="2895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67DA"/>
                </a:solidFill>
                <a:latin typeface="Helvetica Neue"/>
                <a:ea typeface="Helvetica Neue"/>
                <a:cs typeface="Helvetica Neue"/>
              </a:defRPr>
            </a:pPr>
            <a:r>
              <a:rPr sz="2400" b="1">
                <a:solidFill>
                  <a:srgbClr val="1567DA"/>
                </a:solidFill>
                <a:latin typeface="Helvetica Neue"/>
                <a:ea typeface="Helvetica Neue"/>
                <a:cs typeface="Helvetica Neue"/>
              </a:rPr>
              <a:t>Below 60 cm</a:t>
            </a:r>
          </a:p>
        </p:txBody>
      </p:sp>
      <p:sp>
        <p:nvSpPr>
          <p:cNvPr id="4" name="">
            <a:extLst xmlns:a="http://schemas.openxmlformats.org/drawingml/2006/main">
              <a:ext uri="{FF2B5EF4-FFF2-40B4-BE49-F238E27FC236}">
                <a16:creationId xmlns:a16="http://schemas.microsoft.com/office/drawing/2014/main" id="{1E91D444-A919-488F-8C4A-C84BB276D472}"/>
              </a:ext>
            </a:extLst>
          </p:cNvPr>
          <p:cNvSpPr>
            <a:spLocks xmlns:a="http://schemas.openxmlformats.org/drawingml/2006/main" noGrp="1"/>
          </p:cNvSpPr>
          <p:nvPr/>
        </p:nvSpPr>
        <p:spPr>
          <a:xfrm xmlns:a="http://schemas.openxmlformats.org/drawingml/2006/main">
            <a:off x="8667750" y="2381250"/>
            <a:ext cx="2895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B43"/>
                </a:solidFill>
                <a:latin typeface="Helvetica Neue"/>
                <a:ea typeface="Helvetica Neue"/>
                <a:cs typeface="Helvetica Neue"/>
              </a:defRPr>
            </a:pPr>
            <a:r>
              <a:rPr sz="2100" b="0">
                <a:solidFill>
                  <a:srgbClr val="142B43"/>
                </a:solidFill>
                <a:latin typeface="Helvetica Neue"/>
                <a:ea typeface="Helvetica Neue"/>
                <a:cs typeface="Helvetica Neue"/>
              </a:rPr>
              <a:t>Vibration and obstacle beeps begin</a:t>
            </a:r>
          </a:p>
        </p:txBody>
      </p:sp>
      <p:sp>
        <p:nvSpPr>
          <p:cNvPr id="5" name="">
            <a:extLst xmlns:a="http://schemas.openxmlformats.org/drawingml/2006/main">
              <a:ext uri="{FF2B5EF4-FFF2-40B4-BE49-F238E27FC236}">
                <a16:creationId xmlns:a16="http://schemas.microsoft.com/office/drawing/2014/main" id="{FC87CA3C-62D4-4599-91D8-9826166756FA}"/>
              </a:ext>
            </a:extLst>
          </p:cNvPr>
          <p:cNvSpPr>
            <a:spLocks xmlns:a="http://schemas.openxmlformats.org/drawingml/2006/main" noGrp="1"/>
          </p:cNvSpPr>
          <p:nvPr/>
        </p:nvSpPr>
        <p:spPr>
          <a:xfrm xmlns:a="http://schemas.openxmlformats.org/drawingml/2006/main">
            <a:off x="8667750" y="3810000"/>
            <a:ext cx="2895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67DA"/>
                </a:solidFill>
                <a:latin typeface="Helvetica Neue"/>
                <a:ea typeface="Helvetica Neue"/>
                <a:cs typeface="Helvetica Neue"/>
              </a:defRPr>
            </a:pPr>
            <a:r>
              <a:rPr sz="2400" b="1">
                <a:solidFill>
                  <a:srgbClr val="1567DA"/>
                </a:solidFill>
                <a:latin typeface="Helvetica Neue"/>
                <a:ea typeface="Helvetica Neue"/>
                <a:cs typeface="Helvetica Neue"/>
              </a:rPr>
              <a:t>At 10 cm</a:t>
            </a:r>
          </a:p>
        </p:txBody>
      </p:sp>
      <p:sp>
        <p:nvSpPr>
          <p:cNvPr id="6" name="">
            <a:extLst xmlns:a="http://schemas.openxmlformats.org/drawingml/2006/main">
              <a:ext uri="{FF2B5EF4-FFF2-40B4-BE49-F238E27FC236}">
                <a16:creationId xmlns:a16="http://schemas.microsoft.com/office/drawing/2014/main" id="{82103C85-0307-4360-9C1D-9A1843109563}"/>
              </a:ext>
            </a:extLst>
          </p:cNvPr>
          <p:cNvSpPr>
            <a:spLocks xmlns:a="http://schemas.openxmlformats.org/drawingml/2006/main" noGrp="1"/>
          </p:cNvSpPr>
          <p:nvPr/>
        </p:nvSpPr>
        <p:spPr>
          <a:xfrm xmlns:a="http://schemas.openxmlformats.org/drawingml/2006/main">
            <a:off x="8667750" y="4381500"/>
            <a:ext cx="289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B43"/>
                </a:solidFill>
                <a:latin typeface="Helvetica Neue"/>
                <a:ea typeface="Helvetica Neue"/>
                <a:cs typeface="Helvetica Neue"/>
              </a:defRPr>
            </a:pPr>
            <a:r>
              <a:rPr sz="2100" b="0">
                <a:solidFill>
                  <a:srgbClr val="142B43"/>
                </a:solidFill>
                <a:latin typeface="Helvetica Neue"/>
                <a:ea typeface="Helvetica Neue"/>
                <a:cs typeface="Helvetica Neue"/>
              </a:rPr>
              <a:t>Motor duty reaches 100%</a:t>
            </a:r>
          </a:p>
        </p:txBody>
      </p:sp>
      <p:sp>
        <p:nvSpPr>
          <p:cNvPr id="7" name="">
            <a:extLst xmlns:a="http://schemas.openxmlformats.org/drawingml/2006/main">
              <a:ext uri="{FF2B5EF4-FFF2-40B4-BE49-F238E27FC236}">
                <a16:creationId xmlns:a16="http://schemas.microsoft.com/office/drawing/2014/main" id="{BCE0F641-FB78-4DF7-8936-84382409CDA6}"/>
              </a:ext>
            </a:extLst>
          </p:cNvPr>
          <p:cNvSpPr>
            <a:spLocks xmlns:a="http://schemas.openxmlformats.org/drawingml/2006/main" noGrp="1"/>
          </p:cNvSpPr>
          <p:nvPr/>
        </p:nvSpPr>
        <p:spPr>
          <a:xfrm xmlns:a="http://schemas.openxmlformats.org/drawingml/2006/main">
            <a:off x="609600" y="6086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9"/>
                </a:solidFill>
                <a:latin typeface="Helvetica Neue"/>
                <a:ea typeface="Helvetica Neue"/>
                <a:cs typeface="Helvetica Neue"/>
              </a:defRPr>
            </a:pPr>
            <a:r>
              <a:rPr sz="1725" b="0">
                <a:solidFill>
                  <a:srgbClr val="526579"/>
                </a:solidFill>
                <a:latin typeface="Helvetica Neue"/>
                <a:ea typeface="Helvetica Neue"/>
                <a:cs typeface="Helvetica Neue"/>
              </a:rPr>
              <a:t>Programmed mapping at selected readings. Physical response still needs measurement.</a:t>
            </a:r>
          </a:p>
        </p:txBody>
      </p:sp>
    </p:spTree>
    <p:extLst>
      <p:ext uri="{BB962C8B-B14F-4D97-AF65-F5344CB8AC3E}">
        <p14:creationId xmlns:p14="http://schemas.microsoft.com/office/powerpoint/2010/main" val="381310222"/>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9D32F5-5BD6-404A-8158-6232402AD16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43"/>
                </a:solidFill>
                <a:latin typeface="Helvetica Neue"/>
                <a:ea typeface="Helvetica Neue"/>
                <a:cs typeface="Helvetica Neue"/>
              </a:defRPr>
            </a:pPr>
            <a:r>
              <a:rPr sz="3300" b="1">
                <a:solidFill>
                  <a:srgbClr val="142B43"/>
                </a:solidFill>
                <a:latin typeface="Helvetica Neue"/>
                <a:ea typeface="Helvetica Neue"/>
                <a:cs typeface="Helvetica Neue"/>
              </a:rPr>
              <a:t>Cane orientation and local operation</a:t>
            </a:r>
          </a:p>
        </p:txBody>
      </p:sp>
      <p:sp>
        <p:nvSpPr>
          <p:cNvPr id="2" name="">
            <a:extLst xmlns:a="http://schemas.openxmlformats.org/drawingml/2006/main">
              <a:ext uri="{FF2B5EF4-FFF2-40B4-BE49-F238E27FC236}">
                <a16:creationId xmlns:a16="http://schemas.microsoft.com/office/drawing/2014/main" id="{CC6D9087-EB22-4364-AAFE-964C613C9F22}"/>
              </a:ext>
            </a:extLst>
          </p:cNvPr>
          <p:cNvSpPr>
            <a:spLocks xmlns:a="http://schemas.openxmlformats.org/drawingml/2006/main" noGrp="1"/>
          </p:cNvSpPr>
          <p:nvPr/>
        </p:nvSpPr>
        <p:spPr>
          <a:xfrm xmlns:a="http://schemas.openxmlformats.org/drawingml/2006/main">
            <a:off x="609600" y="1704975"/>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1567DA"/>
                </a:solidFill>
                <a:latin typeface="Helvetica Neue"/>
                <a:ea typeface="Helvetica Neue"/>
                <a:cs typeface="Helvetica Neue"/>
              </a:defRPr>
            </a:pPr>
            <a:r>
              <a:rPr sz="7050" b="1">
                <a:solidFill>
                  <a:srgbClr val="1567DA"/>
                </a:solidFill>
                <a:latin typeface="Helvetica Neue"/>
                <a:ea typeface="Helvetica Neue"/>
                <a:cs typeface="Helvetica Neue"/>
              </a:rPr>
              <a:t>65°</a:t>
            </a:r>
          </a:p>
        </p:txBody>
      </p:sp>
      <p:sp>
        <p:nvSpPr>
          <p:cNvPr id="3" name="">
            <a:extLst xmlns:a="http://schemas.openxmlformats.org/drawingml/2006/main">
              <a:ext uri="{FF2B5EF4-FFF2-40B4-BE49-F238E27FC236}">
                <a16:creationId xmlns:a16="http://schemas.microsoft.com/office/drawing/2014/main" id="{D751C5B1-CD1F-41DE-AC91-75D33D6D12C7}"/>
              </a:ext>
            </a:extLst>
          </p:cNvPr>
          <p:cNvSpPr>
            <a:spLocks xmlns:a="http://schemas.openxmlformats.org/drawingml/2006/main" noGrp="1"/>
          </p:cNvSpPr>
          <p:nvPr/>
        </p:nvSpPr>
        <p:spPr>
          <a:xfrm xmlns:a="http://schemas.openxmlformats.org/drawingml/2006/main">
            <a:off x="609600" y="29337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Helvetica Neue"/>
                <a:ea typeface="Helvetica Neue"/>
                <a:cs typeface="Helvetica Neue"/>
              </a:defRPr>
            </a:pPr>
            <a:r>
              <a:rPr sz="2250" b="1">
                <a:solidFill>
                  <a:srgbClr val="142B43"/>
                </a:solidFill>
                <a:latin typeface="Helvetica Neue"/>
                <a:ea typeface="Helvetica Neue"/>
                <a:cs typeface="Helvetica Neue"/>
              </a:rPr>
              <a:t>Tilt alarm threshold</a:t>
            </a:r>
          </a:p>
        </p:txBody>
      </p:sp>
      <p:sp>
        <p:nvSpPr>
          <p:cNvPr id="4" name="">
            <a:extLst xmlns:a="http://schemas.openxmlformats.org/drawingml/2006/main">
              <a:ext uri="{FF2B5EF4-FFF2-40B4-BE49-F238E27FC236}">
                <a16:creationId xmlns:a16="http://schemas.microsoft.com/office/drawing/2014/main" id="{38B62DC8-CD4D-4802-A726-19B07651FC67}"/>
              </a:ext>
            </a:extLst>
          </p:cNvPr>
          <p:cNvSpPr>
            <a:spLocks xmlns:a="http://schemas.openxmlformats.org/drawingml/2006/main" noGrp="1"/>
          </p:cNvSpPr>
          <p:nvPr/>
        </p:nvSpPr>
        <p:spPr>
          <a:xfrm xmlns:a="http://schemas.openxmlformats.org/drawingml/2006/main">
            <a:off x="609600" y="39052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567DA"/>
                </a:solidFill>
                <a:latin typeface="Helvetica Neue"/>
                <a:ea typeface="Helvetica Neue"/>
                <a:cs typeface="Helvetica Neue"/>
              </a:defRPr>
            </a:pPr>
            <a:r>
              <a:rPr sz="3900" b="1">
                <a:solidFill>
                  <a:srgbClr val="1567DA"/>
                </a:solidFill>
                <a:latin typeface="Helvetica Neue"/>
                <a:ea typeface="Helvetica Neue"/>
                <a:cs typeface="Helvetica Neue"/>
              </a:rPr>
              <a:t>Below 30°</a:t>
            </a:r>
          </a:p>
        </p:txBody>
      </p:sp>
      <p:sp>
        <p:nvSpPr>
          <p:cNvPr id="5" name="">
            <a:extLst xmlns:a="http://schemas.openxmlformats.org/drawingml/2006/main">
              <a:ext uri="{FF2B5EF4-FFF2-40B4-BE49-F238E27FC236}">
                <a16:creationId xmlns:a16="http://schemas.microsoft.com/office/drawing/2014/main" id="{C73E501C-7E31-43C3-9832-C2614049FAE3}"/>
              </a:ext>
            </a:extLst>
          </p:cNvPr>
          <p:cNvSpPr>
            <a:spLocks xmlns:a="http://schemas.openxmlformats.org/drawingml/2006/main" noGrp="1"/>
          </p:cNvSpPr>
          <p:nvPr/>
        </p:nvSpPr>
        <p:spPr>
          <a:xfrm xmlns:a="http://schemas.openxmlformats.org/drawingml/2006/main">
            <a:off x="609600" y="4810125"/>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B43"/>
                </a:solidFill>
                <a:latin typeface="Helvetica Neue"/>
                <a:ea typeface="Helvetica Neue"/>
                <a:cs typeface="Helvetica Neue"/>
              </a:defRPr>
            </a:pPr>
            <a:r>
              <a:rPr sz="2100" b="0">
                <a:solidFill>
                  <a:srgbClr val="142B43"/>
                </a:solidFill>
                <a:latin typeface="Helvetica Neue"/>
                <a:ea typeface="Helvetica Neue"/>
                <a:cs typeface="Helvetica Neue"/>
              </a:rPr>
              <a:t>Alarm clears when the trigger is absent</a:t>
            </a:r>
          </a:p>
        </p:txBody>
      </p:sp>
      <p:sp>
        <p:nvSpPr>
          <p:cNvPr id="6" name="">
            <a:extLst xmlns:a="http://schemas.openxmlformats.org/drawingml/2006/main">
              <a:ext uri="{FF2B5EF4-FFF2-40B4-BE49-F238E27FC236}">
                <a16:creationId xmlns:a16="http://schemas.microsoft.com/office/drawing/2014/main" id="{9A8BB2F6-A764-4B43-9F7B-C75E30D41B44}"/>
              </a:ext>
            </a:extLst>
          </p:cNvPr>
          <p:cNvSpPr>
            <a:spLocks xmlns:a="http://schemas.openxmlformats.org/drawingml/2006/main" noGrp="1"/>
          </p:cNvSpPr>
          <p:nvPr/>
        </p:nvSpPr>
        <p:spPr>
          <a:xfrm xmlns:a="http://schemas.openxmlformats.org/drawingml/2006/main">
            <a:off x="6477000" y="1838325"/>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B43"/>
                </a:solidFill>
                <a:latin typeface="Helvetica Neue"/>
                <a:ea typeface="Helvetica Neue"/>
                <a:cs typeface="Helvetica Neue"/>
              </a:defRPr>
            </a:pPr>
            <a:r>
              <a:rPr sz="2325" b="1">
                <a:solidFill>
                  <a:srgbClr val="142B43"/>
                </a:solidFill>
                <a:latin typeface="Helvetica Neue"/>
                <a:ea typeface="Helvetica Neue"/>
                <a:cs typeface="Helvetica Neue"/>
              </a:rPr>
              <a:t>The alarm also triggers at 2.5 g</a:t>
            </a:r>
          </a:p>
        </p:txBody>
      </p:sp>
      <p:sp>
        <p:nvSpPr>
          <p:cNvPr id="7" name="">
            <a:extLst xmlns:a="http://schemas.openxmlformats.org/drawingml/2006/main">
              <a:ext uri="{FF2B5EF4-FFF2-40B4-BE49-F238E27FC236}">
                <a16:creationId xmlns:a16="http://schemas.microsoft.com/office/drawing/2014/main" id="{EE5D0817-C9C9-4AE7-8115-2B630ADBED0E}"/>
              </a:ext>
            </a:extLst>
          </p:cNvPr>
          <p:cNvSpPr>
            <a:spLocks xmlns:a="http://schemas.openxmlformats.org/drawingml/2006/main" noGrp="1"/>
          </p:cNvSpPr>
          <p:nvPr/>
        </p:nvSpPr>
        <p:spPr>
          <a:xfrm xmlns:a="http://schemas.openxmlformats.org/drawingml/2006/main">
            <a:off x="6477000" y="30384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43"/>
                </a:solidFill>
                <a:latin typeface="Helvetica Neue"/>
                <a:ea typeface="Helvetica Neue"/>
                <a:cs typeface="Helvetica Neue"/>
              </a:defRPr>
            </a:pPr>
            <a:r>
              <a:rPr sz="2250" b="0">
                <a:solidFill>
                  <a:srgbClr val="142B43"/>
                </a:solidFill>
                <a:latin typeface="Helvetica Neue"/>
                <a:ea typeface="Helvetica Neue"/>
                <a:cs typeface="Helvetica Neue"/>
              </a:rPr>
              <a:t>A cane movement alarm does not establish that its user fell.</a:t>
            </a:r>
          </a:p>
        </p:txBody>
      </p:sp>
      <p:sp>
        <p:nvSpPr>
          <p:cNvPr id="8" name="">
            <a:extLst xmlns:a="http://schemas.openxmlformats.org/drawingml/2006/main">
              <a:ext uri="{FF2B5EF4-FFF2-40B4-BE49-F238E27FC236}">
                <a16:creationId xmlns:a16="http://schemas.microsoft.com/office/drawing/2014/main" id="{8DF204F2-1432-496F-B307-6A8903A1B1FC}"/>
              </a:ext>
            </a:extLst>
          </p:cNvPr>
          <p:cNvSpPr>
            <a:spLocks xmlns:a="http://schemas.openxmlformats.org/drawingml/2006/main" noGrp="1"/>
          </p:cNvSpPr>
          <p:nvPr/>
        </p:nvSpPr>
        <p:spPr>
          <a:xfrm xmlns:a="http://schemas.openxmlformats.org/drawingml/2006/main">
            <a:off x="6477000" y="4695825"/>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43"/>
                </a:solidFill>
                <a:latin typeface="Helvetica Neue"/>
                <a:ea typeface="Helvetica Neue"/>
                <a:cs typeface="Helvetica Neue"/>
              </a:defRPr>
            </a:pPr>
            <a:r>
              <a:rPr sz="2250" b="0">
                <a:solidFill>
                  <a:srgbClr val="142B43"/>
                </a:solidFill>
                <a:latin typeface="Helvetica Neue"/>
                <a:ea typeface="Helvetica Neue"/>
                <a:cs typeface="Helvetica Neue"/>
              </a:rPr>
              <a:t>Local obstacle feedback runs without a phone connection.</a:t>
            </a:r>
          </a:p>
        </p:txBody>
      </p:sp>
    </p:spTree>
    <p:extLst>
      <p:ext uri="{BB962C8B-B14F-4D97-AF65-F5344CB8AC3E}">
        <p14:creationId xmlns:p14="http://schemas.microsoft.com/office/powerpoint/2010/main" val="1974403797"/>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C299F0-0E0F-44DC-B68D-3F58C9A3AC2B}"/>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43"/>
                </a:solidFill>
                <a:latin typeface="Helvetica Neue"/>
                <a:ea typeface="Helvetica Neue"/>
                <a:cs typeface="Helvetica Neue"/>
              </a:defRPr>
            </a:pPr>
            <a:r>
              <a:rPr sz="3300" b="1">
                <a:solidFill>
                  <a:srgbClr val="142B43"/>
                </a:solidFill>
                <a:latin typeface="Helvetica Neue"/>
                <a:ea typeface="Helvetica Neue"/>
                <a:cs typeface="Helvetica Neue"/>
              </a:rPr>
              <a:t>Current progress</a:t>
            </a:r>
          </a:p>
        </p:txBody>
      </p:sp>
      <p:graphicFrame>
        <p:nvGraphicFramePr>
          <p:cNvPr id="7" name=""/>
          <p:cNvGraphicFramePr/>
          <p:nvPr/>
        </p:nvGraphicFramePr>
        <p:xfrm>
          <a:off xmlns:a="http://schemas.openxmlformats.org/drawingml/2006/main" x="609600" y="1533525"/>
          <a:ext xmlns:a="http://schemas.openxmlformats.org/drawingml/2006/main" cx="10972800" cy="3314700"/>
        </p:xfrm>
        <a:graphic xmlns:a="http://schemas.openxmlformats.org/drawingml/2006/main">
          <a:graphicData uri="http://schemas.openxmlformats.org/drawingml/2006/table">
            <a:tbl>
              <a:tblPr/>
              <a:tblGrid>
                <a:gridCol w="3143250"/>
                <a:gridCol w="7829550"/>
              </a:tblGrid>
              <a:tr h="662940">
                <a:tc>
                  <a:txBody>
                    <a:bodyPr/>
                    <a:lstStyle/>
                    <a:p>
                      <a:r>
                        <a:rPr sz="1875" b="1">
                          <a:solidFill>
                            <a:srgbClr val="FFFFFF"/>
                          </a:solidFill>
                          <a:latin typeface="Helvetica Neue"/>
                          <a:ea typeface="Helvetica Neue"/>
                          <a:cs typeface="Helvetica Neue"/>
                        </a:rPr>
                        <a:t>Area</a:t>
                      </a:r>
                    </a:p>
                  </a:txBody>
                  <a:tcPr marL="91440" marR="91440" marT="45720" marB="45720">
                    <a:solidFill>
                      <a:srgbClr val="071C35"/>
                    </a:solidFill>
                  </a:tcPr>
                </a:tc>
                <a:tc>
                  <a:txBody>
                    <a:bodyPr/>
                    <a:lstStyle/>
                    <a:p>
                      <a:r>
                        <a:rPr sz="1875" b="1">
                          <a:solidFill>
                            <a:srgbClr val="FFFFFF"/>
                          </a:solidFill>
                          <a:latin typeface="Helvetica Neue"/>
                          <a:ea typeface="Helvetica Neue"/>
                          <a:cs typeface="Helvetica Neue"/>
                        </a:rPr>
                        <a:t>Current evidence</a:t>
                      </a:r>
                    </a:p>
                  </a:txBody>
                  <a:tcPr marL="91440" marR="91440" marT="45720" marB="45720">
                    <a:solidFill>
                      <a:srgbClr val="071C35"/>
                    </a:solidFill>
                  </a:tcPr>
                </a:tc>
              </a:tr>
              <a:tr h="662940">
                <a:tc>
                  <a:txBody>
                    <a:bodyPr/>
                    <a:lstStyle/>
                    <a:p>
                      <a:r>
                        <a:rPr sz="1875" b="0">
                          <a:solidFill>
                            <a:srgbClr val="142B43"/>
                          </a:solidFill>
                          <a:latin typeface="Helvetica Neue"/>
                          <a:ea typeface="Helvetica Neue"/>
                          <a:cs typeface="Helvetica Neue"/>
                        </a:rPr>
                        <a:t>Hardware</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Team connected the five basic components</a:t>
                      </a:r>
                    </a:p>
                  </a:txBody>
                  <a:tcPr marL="91440" marR="91440" marT="45720" marB="45720">
                    <a:solidFill>
                      <a:srgbClr val="FFFFFF"/>
                    </a:solidFill>
                  </a:tcPr>
                </a:tc>
              </a:tr>
              <a:tr h="662940">
                <a:tc>
                  <a:txBody>
                    <a:bodyPr/>
                    <a:lstStyle/>
                    <a:p>
                      <a:r>
                        <a:rPr sz="1875" b="0">
                          <a:solidFill>
                            <a:srgbClr val="142B43"/>
                          </a:solidFill>
                          <a:latin typeface="Helvetica Neue"/>
                          <a:ea typeface="Helvetica Neue"/>
                          <a:cs typeface="Helvetica Neue"/>
                        </a:rPr>
                        <a:t>Firmware</a:t>
                      </a:r>
                    </a:p>
                  </a:txBody>
                  <a:tcPr marL="91440" marR="91440" marT="45720" marB="45720">
                    <a:solidFill>
                      <a:srgbClr val="EAF0F7"/>
                    </a:solidFill>
                  </a:tcPr>
                </a:tc>
                <a:tc>
                  <a:txBody>
                    <a:bodyPr/>
                    <a:lstStyle/>
                    <a:p>
                      <a:r>
                        <a:rPr sz="1875" b="0">
                          <a:solidFill>
                            <a:srgbClr val="142B43"/>
                          </a:solidFill>
                          <a:latin typeface="Helvetica Neue"/>
                          <a:ea typeface="Helvetica Neue"/>
                          <a:cs typeface="Helvetica Neue"/>
                        </a:rPr>
                        <a:t>ESP32-C3 build passes</a:t>
                      </a:r>
                    </a:p>
                  </a:txBody>
                  <a:tcPr marL="91440" marR="91440" marT="45720" marB="45720">
                    <a:solidFill>
                      <a:srgbClr val="EAF0F7"/>
                    </a:solidFill>
                  </a:tcPr>
                </a:tc>
              </a:tr>
              <a:tr h="662940">
                <a:tc>
                  <a:txBody>
                    <a:bodyPr/>
                    <a:lstStyle/>
                    <a:p>
                      <a:r>
                        <a:rPr sz="1875" b="0">
                          <a:solidFill>
                            <a:srgbClr val="142B43"/>
                          </a:solidFill>
                          <a:latin typeface="Helvetica Neue"/>
                          <a:ea typeface="Helvetica Neue"/>
                          <a:cs typeface="Helvetica Neue"/>
                        </a:rPr>
                        <a:t>Logic tests</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Existing proximity and buzzer tests pass</a:t>
                      </a:r>
                    </a:p>
                  </a:txBody>
                  <a:tcPr marL="91440" marR="91440" marT="45720" marB="45720">
                    <a:solidFill>
                      <a:srgbClr val="FFFFFF"/>
                    </a:solidFill>
                  </a:tcPr>
                </a:tc>
              </a:tr>
              <a:tr h="662940">
                <a:tc>
                  <a:txBody>
                    <a:bodyPr/>
                    <a:lstStyle/>
                    <a:p>
                      <a:r>
                        <a:rPr sz="1875" b="0">
                          <a:solidFill>
                            <a:srgbClr val="142B43"/>
                          </a:solidFill>
                          <a:latin typeface="Helvetica Neue"/>
                          <a:ea typeface="Helvetica Neue"/>
                          <a:cs typeface="Helvetica Neue"/>
                        </a:rPr>
                        <a:t>Physical performance</a:t>
                      </a:r>
                    </a:p>
                  </a:txBody>
                  <a:tcPr marL="91440" marR="91440" marT="45720" marB="45720">
                    <a:solidFill>
                      <a:srgbClr val="EAF0F7"/>
                    </a:solidFill>
                  </a:tcPr>
                </a:tc>
                <a:tc>
                  <a:txBody>
                    <a:bodyPr/>
                    <a:lstStyle/>
                    <a:p>
                      <a:r>
                        <a:rPr sz="1875" b="0">
                          <a:solidFill>
                            <a:srgbClr val="142B43"/>
                          </a:solidFill>
                          <a:latin typeface="Helvetica Neue"/>
                          <a:ea typeface="Helvetica Neue"/>
                          <a:cs typeface="Helvetica Neue"/>
                        </a:rPr>
                        <a:t>Accuracy, latency, BLE range and runtime records pending</a:t>
                      </a:r>
                    </a:p>
                  </a:txBody>
                  <a:tcPr marL="91440" marR="91440" marT="45720" marB="45720">
                    <a:solidFill>
                      <a:srgbClr val="EAF0F7"/>
                    </a:solidFill>
                  </a:tcPr>
                </a:tc>
              </a:tr>
            </a:tbl>
          </a:graphicData>
        </a:graphic>
      </p:graphicFrame>
      <p:sp>
        <p:nvSpPr>
          <p:cNvPr id="3" name="">
            <a:extLst xmlns:a="http://schemas.openxmlformats.org/drawingml/2006/main">
              <a:ext uri="{FF2B5EF4-FFF2-40B4-BE49-F238E27FC236}">
                <a16:creationId xmlns:a16="http://schemas.microsoft.com/office/drawing/2014/main" id="{42A3C8AD-69B5-4F31-9193-CC092404C559}"/>
              </a:ext>
            </a:extLst>
          </p:cNvPr>
          <p:cNvSpPr>
            <a:spLocks xmlns:a="http://schemas.openxmlformats.org/drawingml/2006/main" noGrp="1"/>
          </p:cNvSpPr>
          <p:nvPr/>
        </p:nvSpPr>
        <p:spPr>
          <a:xfrm xmlns:a="http://schemas.openxmlformats.org/drawingml/2006/main">
            <a:off x="609600" y="529590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67DA"/>
                </a:solidFill>
                <a:latin typeface="Helvetica Neue"/>
                <a:ea typeface="Helvetica Neue"/>
                <a:cs typeface="Helvetica Neue"/>
              </a:defRPr>
            </a:pPr>
            <a:r>
              <a:rPr sz="3300" b="1">
                <a:solidFill>
                  <a:srgbClr val="1567DA"/>
                </a:solidFill>
                <a:latin typeface="Helvetica Neue"/>
                <a:ea typeface="Helvetica Neue"/>
                <a:cs typeface="Helvetica Neue"/>
              </a:rPr>
              <a:t>LKR 2,800</a:t>
            </a:r>
          </a:p>
        </p:txBody>
      </p:sp>
      <p:sp>
        <p:nvSpPr>
          <p:cNvPr id="4" name="">
            <a:extLst xmlns:a="http://schemas.openxmlformats.org/drawingml/2006/main">
              <a:ext uri="{FF2B5EF4-FFF2-40B4-BE49-F238E27FC236}">
                <a16:creationId xmlns:a16="http://schemas.microsoft.com/office/drawing/2014/main" id="{918F522C-3771-4BAB-B92E-B69AF7636096}"/>
              </a:ext>
            </a:extLst>
          </p:cNvPr>
          <p:cNvSpPr>
            <a:spLocks xmlns:a="http://schemas.openxmlformats.org/drawingml/2006/main" noGrp="1"/>
          </p:cNvSpPr>
          <p:nvPr/>
        </p:nvSpPr>
        <p:spPr>
          <a:xfrm xmlns:a="http://schemas.openxmlformats.org/drawingml/2006/main">
            <a:off x="4953000" y="525780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B43"/>
                </a:solidFill>
                <a:latin typeface="Helvetica Neue"/>
                <a:ea typeface="Helvetica Neue"/>
                <a:cs typeface="Helvetica Neue"/>
              </a:defRPr>
            </a:pPr>
            <a:r>
              <a:rPr sz="2175" b="1">
                <a:solidFill>
                  <a:srgbClr val="142B43"/>
                </a:solidFill>
                <a:latin typeface="Helvetica Neue"/>
                <a:ea typeface="Helvetica Neue"/>
                <a:cs typeface="Helvetica Neue"/>
              </a:rPr>
              <a:t>Listed base electronics</a:t>
            </a:r>
          </a:p>
        </p:txBody>
      </p:sp>
      <p:sp>
        <p:nvSpPr>
          <p:cNvPr id="5" name="">
            <a:extLst xmlns:a="http://schemas.openxmlformats.org/drawingml/2006/main">
              <a:ext uri="{FF2B5EF4-FFF2-40B4-BE49-F238E27FC236}">
                <a16:creationId xmlns:a16="http://schemas.microsoft.com/office/drawing/2014/main" id="{C7F0BF32-1C94-4AFF-9A78-D6F2ADBBF840}"/>
              </a:ext>
            </a:extLst>
          </p:cNvPr>
          <p:cNvSpPr>
            <a:spLocks xmlns:a="http://schemas.openxmlformats.org/drawingml/2006/main" noGrp="1"/>
          </p:cNvSpPr>
          <p:nvPr/>
        </p:nvSpPr>
        <p:spPr>
          <a:xfrm xmlns:a="http://schemas.openxmlformats.org/drawingml/2006/main">
            <a:off x="4953000" y="57340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579"/>
                </a:solidFill>
                <a:latin typeface="Helvetica Neue"/>
                <a:ea typeface="Helvetica Neue"/>
                <a:cs typeface="Helvetica Neue"/>
              </a:defRPr>
            </a:pPr>
            <a:r>
              <a:rPr sz="1800" b="0">
                <a:solidFill>
                  <a:srgbClr val="526579"/>
                </a:solidFill>
                <a:latin typeface="Helvetica Neue"/>
                <a:ea typeface="Helvetica Neue"/>
                <a:cs typeface="Helvetica Neue"/>
              </a:rPr>
              <a:t>Excludes power, cane, enclosure and unpriced divider</a:t>
            </a:r>
          </a:p>
        </p:txBody>
      </p:sp>
    </p:spTree>
    <p:extLst>
      <p:ext uri="{BB962C8B-B14F-4D97-AF65-F5344CB8AC3E}">
        <p14:creationId xmlns:p14="http://schemas.microsoft.com/office/powerpoint/2010/main" val="1422521967"/>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D70ED39-1C2A-41AC-B9D6-5AD793CFD6B4}"/>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43"/>
                </a:solidFill>
                <a:latin typeface="Helvetica Neue"/>
                <a:ea typeface="Helvetica Neue"/>
                <a:cs typeface="Helvetica Neue"/>
              </a:defRPr>
            </a:pPr>
            <a:r>
              <a:rPr sz="3300" b="1">
                <a:solidFill>
                  <a:srgbClr val="142B43"/>
                </a:solidFill>
                <a:latin typeface="Helvetica Neue"/>
                <a:ea typeface="Helvetica Neue"/>
                <a:cs typeface="Helvetica Neue"/>
              </a:rPr>
              <a:t>Priorities before the final</a:t>
            </a:r>
          </a:p>
        </p:txBody>
      </p:sp>
      <p:graphicFrame>
        <p:nvGraphicFramePr>
          <p:cNvPr id="5" name=""/>
          <p:cNvGraphicFramePr/>
          <p:nvPr/>
        </p:nvGraphicFramePr>
        <p:xfrm>
          <a:off xmlns:a="http://schemas.openxmlformats.org/drawingml/2006/main" x="609600" y="1571625"/>
          <a:ext xmlns:a="http://schemas.openxmlformats.org/drawingml/2006/main" cx="10972800" cy="3857625"/>
        </p:xfrm>
        <a:graphic xmlns:a="http://schemas.openxmlformats.org/drawingml/2006/main">
          <a:graphicData uri="http://schemas.openxmlformats.org/drawingml/2006/table">
            <a:tbl>
              <a:tblPr/>
              <a:tblGrid>
                <a:gridCol w="5143500"/>
                <a:gridCol w="5829300"/>
              </a:tblGrid>
              <a:tr h="964406">
                <a:tc>
                  <a:txBody>
                    <a:bodyPr/>
                    <a:lstStyle/>
                    <a:p>
                      <a:r>
                        <a:rPr sz="1875" b="1">
                          <a:solidFill>
                            <a:srgbClr val="FFFFFF"/>
                          </a:solidFill>
                          <a:latin typeface="Helvetica Neue"/>
                          <a:ea typeface="Helvetica Neue"/>
                          <a:cs typeface="Helvetica Neue"/>
                        </a:rPr>
                        <a:t>Current limitation</a:t>
                      </a:r>
                    </a:p>
                  </a:txBody>
                  <a:tcPr marL="91440" marR="91440" marT="45720" marB="45720">
                    <a:solidFill>
                      <a:srgbClr val="071C35"/>
                    </a:solidFill>
                  </a:tcPr>
                </a:tc>
                <a:tc>
                  <a:txBody>
                    <a:bodyPr/>
                    <a:lstStyle/>
                    <a:p>
                      <a:r>
                        <a:rPr sz="1875" b="1">
                          <a:solidFill>
                            <a:srgbClr val="FFFFFF"/>
                          </a:solidFill>
                          <a:latin typeface="Helvetica Neue"/>
                          <a:ea typeface="Helvetica Neue"/>
                          <a:cs typeface="Helvetica Neue"/>
                        </a:rPr>
                        <a:t>Next engineering step</a:t>
                      </a:r>
                    </a:p>
                  </a:txBody>
                  <a:tcPr marL="91440" marR="91440" marT="45720" marB="45720">
                    <a:solidFill>
                      <a:srgbClr val="071C35"/>
                    </a:solidFill>
                  </a:tcPr>
                </a:tc>
              </a:tr>
              <a:tr h="964406">
                <a:tc>
                  <a:txBody>
                    <a:bodyPr/>
                    <a:lstStyle/>
                    <a:p>
                      <a:r>
                        <a:rPr sz="1875" b="0">
                          <a:solidFill>
                            <a:srgbClr val="142B43"/>
                          </a:solidFill>
                          <a:latin typeface="Helvetica Neue"/>
                          <a:ea typeface="Helvetica Neue"/>
                          <a:cs typeface="Helvetica Neue"/>
                        </a:rPr>
                        <a:t>One sensing direction</a:t>
                      </a:r>
                    </a:p>
                    <a:p>
                      <a:r>
                        <a:rPr sz="1875" b="0">
                          <a:solidFill>
                            <a:srgbClr val="142B43"/>
                          </a:solidFill>
                          <a:latin typeface="Helvetica Neue"/>
                          <a:ea typeface="Helvetica Neue"/>
                          <a:cs typeface="Helvetica Neue"/>
                        </a:rPr>
                        <a:t>Ambiguous missing Echo</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Repeat surface and distance tests</a:t>
                      </a:r>
                    </a:p>
                    <a:p>
                      <a:r>
                        <a:rPr sz="1875" b="0">
                          <a:solidFill>
                            <a:srgbClr val="142B43"/>
                          </a:solidFill>
                          <a:latin typeface="Helvetica Neue"/>
                          <a:ea typeface="Helvetica Neue"/>
                          <a:cs typeface="Helvetica Neue"/>
                        </a:rPr>
                        <a:t>Add persistent-fault feedback</a:t>
                      </a:r>
                    </a:p>
                  </a:txBody>
                  <a:tcPr marL="91440" marR="91440" marT="45720" marB="45720">
                    <a:solidFill>
                      <a:srgbClr val="FFFFFF"/>
                    </a:solidFill>
                  </a:tcPr>
                </a:tc>
              </a:tr>
              <a:tr h="964406">
                <a:tc>
                  <a:txBody>
                    <a:bodyPr/>
                    <a:lstStyle/>
                    <a:p>
                      <a:r>
                        <a:rPr sz="1875" b="0">
                          <a:solidFill>
                            <a:srgbClr val="142B43"/>
                          </a:solidFill>
                          <a:latin typeface="Helvetica Neue"/>
                          <a:ea typeface="Helvetica Neue"/>
                          <a:cs typeface="Helvetica Neue"/>
                        </a:rPr>
                        <a:t>Cane tilt can trigger false alarms</a:t>
                      </a:r>
                    </a:p>
                  </a:txBody>
                  <a:tcPr marL="91440" marR="91440" marT="45720" marB="45720">
                    <a:solidFill>
                      <a:srgbClr val="EAF0F7"/>
                    </a:solidFill>
                  </a:tcPr>
                </a:tc>
                <a:tc>
                  <a:txBody>
                    <a:bodyPr/>
                    <a:lstStyle/>
                    <a:p>
                      <a:r>
                        <a:rPr sz="1875" b="0">
                          <a:solidFill>
                            <a:srgbClr val="142B43"/>
                          </a:solidFill>
                          <a:latin typeface="Helvetica Neue"/>
                          <a:ea typeface="Helvetica Neue"/>
                          <a:cs typeface="Helvetica Neue"/>
                        </a:rPr>
                        <a:t>Test normal handling and pickup</a:t>
                      </a:r>
                    </a:p>
                    <a:p>
                      <a:r>
                        <a:rPr sz="1875" b="0">
                          <a:solidFill>
                            <a:srgbClr val="142B43"/>
                          </a:solidFill>
                          <a:latin typeface="Helvetica Neue"/>
                          <a:ea typeface="Helvetica Neue"/>
                          <a:cs typeface="Helvetica Neue"/>
                        </a:rPr>
                        <a:t>Improve event classification</a:t>
                      </a:r>
                    </a:p>
                  </a:txBody>
                  <a:tcPr marL="91440" marR="91440" marT="45720" marB="45720">
                    <a:solidFill>
                      <a:srgbClr val="EAF0F7"/>
                    </a:solidFill>
                  </a:tcPr>
                </a:tc>
              </a:tr>
              <a:tr h="964406">
                <a:tc>
                  <a:txBody>
                    <a:bodyPr/>
                    <a:lstStyle/>
                    <a:p>
                      <a:r>
                        <a:rPr sz="1875" b="0">
                          <a:solidFill>
                            <a:srgbClr val="142B43"/>
                          </a:solidFill>
                          <a:latin typeface="Helvetica Neue"/>
                          <a:ea typeface="Helvetica Neue"/>
                          <a:cs typeface="Helvetica Neue"/>
                        </a:rPr>
                        <a:t>Caregiver connection is unfinished</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Build one phone-to-caregiver alert</a:t>
                      </a:r>
                    </a:p>
                    <a:p>
                      <a:r>
                        <a:rPr sz="1875" b="0">
                          <a:solidFill>
                            <a:srgbClr val="142B43"/>
                          </a:solidFill>
                          <a:latin typeface="Helvetica Neue"/>
                          <a:ea typeface="Helvetica Neue"/>
                          <a:cs typeface="Helvetica Neue"/>
                        </a:rPr>
                        <a:t>Show delivery and connection status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1817DE6-E382-4731-9FB2-2DB73BCD5DAB}"/>
              </a:ext>
            </a:extLst>
          </p:cNvPr>
          <p:cNvSpPr>
            <a:spLocks xmlns:a="http://schemas.openxmlformats.org/drawingml/2006/main" noGrp="1"/>
          </p:cNvSpPr>
          <p:nvPr/>
        </p:nvSpPr>
        <p:spPr>
          <a:xfrm xmlns:a="http://schemas.openxmlformats.org/drawingml/2006/main">
            <a:off x="609600" y="5715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67DA"/>
                </a:solidFill>
                <a:latin typeface="Helvetica Neue"/>
                <a:ea typeface="Helvetica Neue"/>
                <a:cs typeface="Helvetica Neue"/>
              </a:defRPr>
            </a:pPr>
            <a:r>
              <a:rPr sz="2100" b="1">
                <a:solidFill>
                  <a:srgbClr val="1567DA"/>
                </a:solidFill>
                <a:latin typeface="Helvetica Neue"/>
                <a:ea typeface="Helvetica Neue"/>
                <a:cs typeface="Helvetica Neue"/>
              </a:rPr>
              <a:t>Secure mounting and measured power use support each step.</a:t>
            </a:r>
          </a:p>
        </p:txBody>
      </p:sp>
    </p:spTree>
    <p:extLst>
      <p:ext uri="{BB962C8B-B14F-4D97-AF65-F5344CB8AC3E}">
        <p14:creationId xmlns:p14="http://schemas.microsoft.com/office/powerpoint/2010/main" val="621079560"/>
      </p:ext>
    </p:extLst>
  </p:cSld>
</p:sld>
</file>

<file path=ppt/slides/slide6.xml><?xml version="1.0" encoding="utf-8"?>
<p:sld xmlns:p="http://schemas.openxmlformats.org/presentationml/2006/main">
  <p:cSld>
    <p:bg>
      <p:bgPr>
        <a:solidFill xmlns:a="http://schemas.openxmlformats.org/drawingml/2006/main">
          <a:srgbClr val="071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C2AA8A-24C5-4CFA-9E46-EC4D65D01136}"/>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Questions and live checks</a:t>
            </a:r>
          </a:p>
        </p:txBody>
      </p:sp>
      <p:sp>
        <p:nvSpPr>
          <p:cNvPr id="2" name="">
            <a:extLst xmlns:a="http://schemas.openxmlformats.org/drawingml/2006/main">
              <a:ext uri="{FF2B5EF4-FFF2-40B4-BE49-F238E27FC236}">
                <a16:creationId xmlns:a16="http://schemas.microsoft.com/office/drawing/2014/main" id="{EC0D8F2F-F7D1-4529-BE39-46EF9C20060E}"/>
              </a:ext>
            </a:extLst>
          </p:cNvPr>
          <p:cNvSpPr>
            <a:spLocks xmlns:a="http://schemas.openxmlformats.org/drawingml/2006/main" noGrp="1"/>
          </p:cNvSpPr>
          <p:nvPr/>
        </p:nvSpPr>
        <p:spPr>
          <a:xfrm xmlns:a="http://schemas.openxmlformats.org/drawingml/2006/main">
            <a:off x="609600" y="20002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Sensing coverage</a:t>
            </a:r>
          </a:p>
        </p:txBody>
      </p:sp>
      <p:sp>
        <p:nvSpPr>
          <p:cNvPr id="3" name="">
            <a:extLst xmlns:a="http://schemas.openxmlformats.org/drawingml/2006/main">
              <a:ext uri="{FF2B5EF4-FFF2-40B4-BE49-F238E27FC236}">
                <a16:creationId xmlns:a16="http://schemas.microsoft.com/office/drawing/2014/main" id="{6BAC96C3-71FA-4287-AC73-6DE357AA6EDD}"/>
              </a:ext>
            </a:extLst>
          </p:cNvPr>
          <p:cNvSpPr>
            <a:spLocks xmlns:a="http://schemas.openxmlformats.org/drawingml/2006/main" noGrp="1"/>
          </p:cNvSpPr>
          <p:nvPr/>
        </p:nvSpPr>
        <p:spPr>
          <a:xfrm xmlns:a="http://schemas.openxmlformats.org/drawingml/2006/main">
            <a:off x="6572250" y="2000250"/>
            <a:ext cx="5000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Electrical interfaces</a:t>
            </a:r>
          </a:p>
        </p:txBody>
      </p:sp>
      <p:sp>
        <p:nvSpPr>
          <p:cNvPr id="4" name="">
            <a:extLst xmlns:a="http://schemas.openxmlformats.org/drawingml/2006/main">
              <a:ext uri="{FF2B5EF4-FFF2-40B4-BE49-F238E27FC236}">
                <a16:creationId xmlns:a16="http://schemas.microsoft.com/office/drawing/2014/main" id="{67CB603C-50A4-487A-9F53-F0B875A47E31}"/>
              </a:ext>
            </a:extLst>
          </p:cNvPr>
          <p:cNvSpPr>
            <a:spLocks xmlns:a="http://schemas.openxmlformats.org/drawingml/2006/main" noGrp="1"/>
          </p:cNvSpPr>
          <p:nvPr/>
        </p:nvSpPr>
        <p:spPr>
          <a:xfrm xmlns:a="http://schemas.openxmlformats.org/drawingml/2006/main">
            <a:off x="609600" y="36385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55DCE0"/>
                </a:solidFill>
                <a:latin typeface="Helvetica Neue"/>
                <a:ea typeface="Helvetica Neue"/>
                <a:cs typeface="Helvetica Neue"/>
              </a:defRPr>
            </a:pPr>
            <a:r>
              <a:rPr sz="2700" b="1">
                <a:solidFill>
                  <a:srgbClr val="55DCE0"/>
                </a:solidFill>
                <a:latin typeface="Helvetica Neue"/>
                <a:ea typeface="Helvetica Neue"/>
                <a:cs typeface="Helvetica Neue"/>
              </a:rPr>
              <a:t>BLE and future caregiver alerts</a:t>
            </a:r>
          </a:p>
        </p:txBody>
      </p:sp>
      <p:sp>
        <p:nvSpPr>
          <p:cNvPr id="5" name="">
            <a:extLst xmlns:a="http://schemas.openxmlformats.org/drawingml/2006/main">
              <a:ext uri="{FF2B5EF4-FFF2-40B4-BE49-F238E27FC236}">
                <a16:creationId xmlns:a16="http://schemas.microsoft.com/office/drawing/2014/main" id="{DA8A71A3-8038-4402-BA17-802DF8EDF129}"/>
              </a:ext>
            </a:extLst>
          </p:cNvPr>
          <p:cNvSpPr>
            <a:spLocks xmlns:a="http://schemas.openxmlformats.org/drawingml/2006/main" noGrp="1"/>
          </p:cNvSpPr>
          <p:nvPr/>
        </p:nvSpPr>
        <p:spPr>
          <a:xfrm xmlns:a="http://schemas.openxmlformats.org/drawingml/2006/main">
            <a:off x="6572250" y="363855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55DCE0"/>
                </a:solidFill>
                <a:latin typeface="Helvetica Neue"/>
                <a:ea typeface="Helvetica Neue"/>
                <a:cs typeface="Helvetica Neue"/>
              </a:defRPr>
            </a:pPr>
            <a:r>
              <a:rPr sz="2700" b="1">
                <a:solidFill>
                  <a:srgbClr val="55DCE0"/>
                </a:solidFill>
                <a:latin typeface="Helvetica Neue"/>
                <a:ea typeface="Helvetica Neue"/>
                <a:cs typeface="Helvetica Neue"/>
              </a:rPr>
              <a:t>Testing and failure behavior</a:t>
            </a:r>
          </a:p>
        </p:txBody>
      </p:sp>
      <p:sp>
        <p:nvSpPr>
          <p:cNvPr id="6" name="">
            <a:extLst xmlns:a="http://schemas.openxmlformats.org/drawingml/2006/main">
              <a:ext uri="{FF2B5EF4-FFF2-40B4-BE49-F238E27FC236}">
                <a16:creationId xmlns:a16="http://schemas.microsoft.com/office/drawing/2014/main" id="{1444F4A7-5070-4982-9BDB-56AEA29BA7B8}"/>
              </a:ext>
            </a:extLst>
          </p:cNvPr>
          <p:cNvSpPr>
            <a:spLocks xmlns:a="http://schemas.openxmlformats.org/drawingml/2006/main" noGrp="1"/>
          </p:cNvSpPr>
          <p:nvPr/>
        </p:nvSpPr>
        <p:spPr>
          <a:xfrm xmlns:a="http://schemas.openxmlformats.org/drawingml/2006/main">
            <a:off x="609600" y="6000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EC4DF"/>
                </a:solidFill>
                <a:latin typeface="Helvetica Neue"/>
                <a:ea typeface="Helvetica Neue"/>
                <a:cs typeface="Helvetica Neue"/>
              </a:defRPr>
            </a:pPr>
            <a:r>
              <a:rPr sz="2025" b="0">
                <a:solidFill>
                  <a:srgbClr val="AEC4DF"/>
                </a:solidFill>
                <a:latin typeface="Helvetica Neue"/>
                <a:ea typeface="Helvetica Neue"/>
                <a:cs typeface="Helvetica Neue"/>
              </a:rPr>
              <a:t>Neural-Nexus</a:t>
            </a:r>
          </a:p>
        </p:txBody>
      </p:sp>
    </p:spTree>
    <p:extLst>
      <p:ext uri="{BB962C8B-B14F-4D97-AF65-F5344CB8AC3E}">
        <p14:creationId xmlns:p14="http://schemas.microsoft.com/office/powerpoint/2010/main" val="2069873940"/>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944B800-26EB-4DF5-ADF5-B18CC6635978}"/>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43"/>
                </a:solidFill>
                <a:latin typeface="Helvetica Neue"/>
                <a:ea typeface="Helvetica Neue"/>
                <a:cs typeface="Helvetica Neue"/>
              </a:defRPr>
            </a:pPr>
            <a:r>
              <a:rPr sz="3300" b="1">
                <a:solidFill>
                  <a:srgbClr val="142B43"/>
                </a:solidFill>
                <a:latin typeface="Helvetica Neue"/>
                <a:ea typeface="Helvetica Neue"/>
                <a:cs typeface="Helvetica Neue"/>
              </a:rPr>
              <a:t>Architecture and interfaces</a:t>
            </a:r>
          </a:p>
        </p:txBody>
      </p:sp>
      <p:graphicFrame>
        <p:nvGraphicFramePr>
          <p:cNvPr id="5" name=""/>
          <p:cNvGraphicFramePr/>
          <p:nvPr/>
        </p:nvGraphicFramePr>
        <p:xfrm>
          <a:off xmlns:a="http://schemas.openxmlformats.org/drawingml/2006/main" x="609600" y="1457325"/>
          <a:ext xmlns:a="http://schemas.openxmlformats.org/drawingml/2006/main" cx="10972800" cy="3886200"/>
        </p:xfrm>
        <a:graphic xmlns:a="http://schemas.openxmlformats.org/drawingml/2006/main">
          <a:graphicData uri="http://schemas.openxmlformats.org/drawingml/2006/table">
            <a:tbl>
              <a:tblPr/>
              <a:tblGrid>
                <a:gridCol w="3000375"/>
                <a:gridCol w="4762500"/>
                <a:gridCol w="3209925"/>
              </a:tblGrid>
              <a:tr h="647700">
                <a:tc>
                  <a:txBody>
                    <a:bodyPr/>
                    <a:lstStyle/>
                    <a:p>
                      <a:r>
                        <a:rPr sz="1875" b="1">
                          <a:solidFill>
                            <a:srgbClr val="FFFFFF"/>
                          </a:solidFill>
                          <a:latin typeface="Helvetica Neue"/>
                          <a:ea typeface="Helvetica Neue"/>
                          <a:cs typeface="Helvetica Neue"/>
                        </a:rPr>
                        <a:t>Element</a:t>
                      </a:r>
                    </a:p>
                  </a:txBody>
                  <a:tcPr marL="91440" marR="91440" marT="45720" marB="45720">
                    <a:solidFill>
                      <a:srgbClr val="071C35"/>
                    </a:solidFill>
                  </a:tcPr>
                </a:tc>
                <a:tc>
                  <a:txBody>
                    <a:bodyPr/>
                    <a:lstStyle/>
                    <a:p>
                      <a:r>
                        <a:rPr sz="1875" b="1">
                          <a:solidFill>
                            <a:srgbClr val="FFFFFF"/>
                          </a:solidFill>
                          <a:latin typeface="Helvetica Neue"/>
                          <a:ea typeface="Helvetica Neue"/>
                          <a:cs typeface="Helvetica Neue"/>
                        </a:rPr>
                        <a:t>Role</a:t>
                      </a:r>
                    </a:p>
                  </a:txBody>
                  <a:tcPr marL="91440" marR="91440" marT="45720" marB="45720">
                    <a:solidFill>
                      <a:srgbClr val="071C35"/>
                    </a:solidFill>
                  </a:tcPr>
                </a:tc>
                <a:tc>
                  <a:txBody>
                    <a:bodyPr/>
                    <a:lstStyle/>
                    <a:p>
                      <a:r>
                        <a:rPr sz="1875" b="1">
                          <a:solidFill>
                            <a:srgbClr val="FFFFFF"/>
                          </a:solidFill>
                          <a:latin typeface="Helvetica Neue"/>
                          <a:ea typeface="Helvetica Neue"/>
                          <a:cs typeface="Helvetica Neue"/>
                        </a:rPr>
                        <a:t>Interface</a:t>
                      </a:r>
                    </a:p>
                  </a:txBody>
                  <a:tcPr marL="91440" marR="91440" marT="45720" marB="45720">
                    <a:solidFill>
                      <a:srgbClr val="071C35"/>
                    </a:solidFill>
                  </a:tcPr>
                </a:tc>
              </a:tr>
              <a:tr h="647700">
                <a:tc>
                  <a:txBody>
                    <a:bodyPr/>
                    <a:lstStyle/>
                    <a:p>
                      <a:r>
                        <a:rPr sz="1875" b="0">
                          <a:solidFill>
                            <a:srgbClr val="142B43"/>
                          </a:solidFill>
                          <a:latin typeface="Helvetica Neue"/>
                          <a:ea typeface="Helvetica Neue"/>
                          <a:cs typeface="Helvetica Neue"/>
                        </a:rPr>
                        <a:t>HC-SR04</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Forward distance input</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TRIG 0 / ECHO 1</a:t>
                      </a:r>
                    </a:p>
                  </a:txBody>
                  <a:tcPr marL="91440" marR="91440" marT="45720" marB="45720">
                    <a:solidFill>
                      <a:srgbClr val="FFFFFF"/>
                    </a:solidFill>
                  </a:tcPr>
                </a:tc>
              </a:tr>
              <a:tr h="647700">
                <a:tc>
                  <a:txBody>
                    <a:bodyPr/>
                    <a:lstStyle/>
                    <a:p>
                      <a:r>
                        <a:rPr sz="1875" b="0">
                          <a:solidFill>
                            <a:srgbClr val="142B43"/>
                          </a:solidFill>
                          <a:latin typeface="Helvetica Neue"/>
                          <a:ea typeface="Helvetica Neue"/>
                          <a:cs typeface="Helvetica Neue"/>
                        </a:rPr>
                        <a:t>GY-521 / MPU6050</a:t>
                      </a:r>
                    </a:p>
                  </a:txBody>
                  <a:tcPr marL="91440" marR="91440" marT="45720" marB="45720">
                    <a:solidFill>
                      <a:srgbClr val="EAF0F7"/>
                    </a:solidFill>
                  </a:tcPr>
                </a:tc>
                <a:tc>
                  <a:txBody>
                    <a:bodyPr/>
                    <a:lstStyle/>
                    <a:p>
                      <a:r>
                        <a:rPr sz="1875" b="0">
                          <a:solidFill>
                            <a:srgbClr val="142B43"/>
                          </a:solidFill>
                          <a:latin typeface="Helvetica Neue"/>
                          <a:ea typeface="Helvetica Neue"/>
                          <a:cs typeface="Helvetica Neue"/>
                        </a:rPr>
                        <a:t>Acceleration and tilt input</a:t>
                      </a:r>
                    </a:p>
                  </a:txBody>
                  <a:tcPr marL="91440" marR="91440" marT="45720" marB="45720">
                    <a:solidFill>
                      <a:srgbClr val="EAF0F7"/>
                    </a:solidFill>
                  </a:tcPr>
                </a:tc>
                <a:tc>
                  <a:txBody>
                    <a:bodyPr/>
                    <a:lstStyle/>
                    <a:p>
                      <a:r>
                        <a:rPr sz="1875" b="0">
                          <a:solidFill>
                            <a:srgbClr val="142B43"/>
                          </a:solidFill>
                          <a:latin typeface="Helvetica Neue"/>
                          <a:ea typeface="Helvetica Neue"/>
                          <a:cs typeface="Helvetica Neue"/>
                        </a:rPr>
                        <a:t>I2C 4 / 5</a:t>
                      </a:r>
                    </a:p>
                  </a:txBody>
                  <a:tcPr marL="91440" marR="91440" marT="45720" marB="45720">
                    <a:solidFill>
                      <a:srgbClr val="EAF0F7"/>
                    </a:solidFill>
                  </a:tcPr>
                </a:tc>
              </a:tr>
              <a:tr h="647700">
                <a:tc>
                  <a:txBody>
                    <a:bodyPr/>
                    <a:lstStyle/>
                    <a:p>
                      <a:r>
                        <a:rPr sz="1875" b="0">
                          <a:solidFill>
                            <a:srgbClr val="142B43"/>
                          </a:solidFill>
                          <a:latin typeface="Helvetica Neue"/>
                          <a:ea typeface="Helvetica Neue"/>
                          <a:cs typeface="Helvetica Neue"/>
                        </a:rPr>
                        <a:t>ESP32-C3</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Local feedback calculation</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Embedded C++</a:t>
                      </a:r>
                    </a:p>
                  </a:txBody>
                  <a:tcPr marL="91440" marR="91440" marT="45720" marB="45720">
                    <a:solidFill>
                      <a:srgbClr val="FFFFFF"/>
                    </a:solidFill>
                  </a:tcPr>
                </a:tc>
              </a:tr>
              <a:tr h="647700">
                <a:tc>
                  <a:txBody>
                    <a:bodyPr/>
                    <a:lstStyle/>
                    <a:p>
                      <a:r>
                        <a:rPr sz="1875" b="0">
                          <a:solidFill>
                            <a:srgbClr val="142B43"/>
                          </a:solidFill>
                          <a:latin typeface="Helvetica Neue"/>
                          <a:ea typeface="Helvetica Neue"/>
                          <a:cs typeface="Helvetica Neue"/>
                        </a:rPr>
                        <a:t>Motor module / buzzer</a:t>
                      </a:r>
                    </a:p>
                  </a:txBody>
                  <a:tcPr marL="91440" marR="91440" marT="45720" marB="45720">
                    <a:solidFill>
                      <a:srgbClr val="EAF0F7"/>
                    </a:solidFill>
                  </a:tcPr>
                </a:tc>
                <a:tc>
                  <a:txBody>
                    <a:bodyPr/>
                    <a:lstStyle/>
                    <a:p>
                      <a:r>
                        <a:rPr sz="1875" b="0">
                          <a:solidFill>
                            <a:srgbClr val="142B43"/>
                          </a:solidFill>
                          <a:latin typeface="Helvetica Neue"/>
                          <a:ea typeface="Helvetica Neue"/>
                          <a:cs typeface="Helvetica Neue"/>
                        </a:rPr>
                        <a:t>Tactile and audible outputs</a:t>
                      </a:r>
                    </a:p>
                  </a:txBody>
                  <a:tcPr marL="91440" marR="91440" marT="45720" marB="45720">
                    <a:solidFill>
                      <a:srgbClr val="EAF0F7"/>
                    </a:solidFill>
                  </a:tcPr>
                </a:tc>
                <a:tc>
                  <a:txBody>
                    <a:bodyPr/>
                    <a:lstStyle/>
                    <a:p>
                      <a:r>
                        <a:rPr sz="1875" b="0">
                          <a:solidFill>
                            <a:srgbClr val="142B43"/>
                          </a:solidFill>
                          <a:latin typeface="Helvetica Neue"/>
                          <a:ea typeface="Helvetica Neue"/>
                          <a:cs typeface="Helvetica Neue"/>
                        </a:rPr>
                        <a:t>GPIO 6 / 7</a:t>
                      </a:r>
                    </a:p>
                  </a:txBody>
                  <a:tcPr marL="91440" marR="91440" marT="45720" marB="45720">
                    <a:solidFill>
                      <a:srgbClr val="EAF0F7"/>
                    </a:solidFill>
                  </a:tcPr>
                </a:tc>
              </a:tr>
              <a:tr h="647700">
                <a:tc>
                  <a:txBody>
                    <a:bodyPr/>
                    <a:lstStyle/>
                    <a:p>
                      <a:r>
                        <a:rPr sz="1875" b="0">
                          <a:solidFill>
                            <a:srgbClr val="142B43"/>
                          </a:solidFill>
                          <a:latin typeface="Helvetica Neue"/>
                          <a:ea typeface="Helvetica Neue"/>
                          <a:cs typeface="Helvetica Neue"/>
                        </a:rPr>
                        <a:t>Terminal</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Sensor and alert telemetry</a:t>
                      </a:r>
                    </a:p>
                  </a:txBody>
                  <a:tcPr marL="91440" marR="91440" marT="45720" marB="45720">
                    <a:solidFill>
                      <a:srgbClr val="FFFFFF"/>
                    </a:solidFill>
                  </a:tcPr>
                </a:tc>
                <a:tc>
                  <a:txBody>
                    <a:bodyPr/>
                    <a:lstStyle/>
                    <a:p>
                      <a:r>
                        <a:rPr sz="1875" b="0">
                          <a:solidFill>
                            <a:srgbClr val="142B43"/>
                          </a:solidFill>
                          <a:latin typeface="Helvetica Neue"/>
                          <a:ea typeface="Helvetica Neue"/>
                          <a:cs typeface="Helvetica Neue"/>
                        </a:rPr>
                        <a:t>USB / BLE NUS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5420060-C594-4E20-BF9D-242A5E957228}"/>
              </a:ext>
            </a:extLst>
          </p:cNvPr>
          <p:cNvSpPr>
            <a:spLocks xmlns:a="http://schemas.openxmlformats.org/drawingml/2006/main" noGrp="1"/>
          </p:cNvSpPr>
          <p:nvPr/>
        </p:nvSpPr>
        <p:spPr>
          <a:xfrm xmlns:a="http://schemas.openxmlformats.org/drawingml/2006/main">
            <a:off x="609600" y="57435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67DA"/>
                </a:solidFill>
                <a:latin typeface="Helvetica Neue"/>
                <a:ea typeface="Helvetica Neue"/>
                <a:cs typeface="Helvetica Neue"/>
              </a:defRPr>
            </a:pPr>
            <a:r>
              <a:rPr sz="2025" b="1">
                <a:solidFill>
                  <a:srgbClr val="1567DA"/>
                </a:solidFill>
                <a:latin typeface="Helvetica Neue"/>
                <a:ea typeface="Helvetica Neue"/>
                <a:cs typeface="Helvetica Neue"/>
              </a:rPr>
              <a:t>Planned: phone location and network delivery to a caregiver service</a:t>
            </a:r>
          </a:p>
        </p:txBody>
      </p:sp>
    </p:spTree>
    <p:extLst>
      <p:ext uri="{BB962C8B-B14F-4D97-AF65-F5344CB8AC3E}">
        <p14:creationId xmlns:p14="http://schemas.microsoft.com/office/powerpoint/2010/main" val="198040235"/>
      </p:ext>
    </p:extLst>
  </p:cSld>
</p:sld>
</file>

<file path=ppt/slides/slide8.xml><?xml version="1.0" encoding="utf-8"?>
<p:sld xmlns:p="http://schemas.openxmlformats.org/presentationml/2006/main">
  <p:cSld>
    <p:bg>
      <p:bgPr>
        <a:solidFill xmlns:a="http://schemas.openxmlformats.org/drawingml/2006/main">
          <a:srgbClr val="071C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D6B30BA-B050-4570-B162-95F2DE641CA3}"/>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Electrical wiring reference</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c52fa18c6ef9431b"/>
          <a:stretch xmlns:a="http://schemas.openxmlformats.org/drawingml/2006/main"/>
        </p:blipFill>
        <p:spPr>
          <a:xfrm xmlns:a="http://schemas.openxmlformats.org/drawingml/2006/main">
            <a:off x="2099960" y="1314450"/>
            <a:ext cx="7992080"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C79B46-7343-4B32-B1FF-3007F14547DB}"/>
              </a:ext>
            </a:extLst>
          </p:cNvPr>
          <p:cNvSpPr>
            <a:spLocks xmlns:a="http://schemas.openxmlformats.org/drawingml/2006/main" noGrp="1"/>
          </p:cNvSpPr>
          <p:nvPr/>
        </p:nvSpPr>
        <p:spPr>
          <a:xfrm xmlns:a="http://schemas.openxmlformats.org/drawingml/2006/main">
            <a:off x="609600" y="62388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DCE0"/>
                </a:solidFill>
                <a:latin typeface="Helvetica Neue"/>
                <a:ea typeface="Helvetica Neue"/>
                <a:cs typeface="Helvetica Neue"/>
              </a:defRPr>
            </a:pPr>
            <a:r>
              <a:rPr sz="1650" b="0">
                <a:solidFill>
                  <a:srgbClr val="55DCE0"/>
                </a:solidFill>
                <a:latin typeface="Helvetica Neue"/>
                <a:ea typeface="Helvetica Neue"/>
                <a:cs typeface="Helvetica Neue"/>
              </a:rPr>
              <a:t>Confirm the physical Echo divider and actuator drivers before powering.</a:t>
            </a:r>
          </a:p>
        </p:txBody>
      </p:sp>
    </p:spTree>
    <p:extLst>
      <p:ext uri="{BB962C8B-B14F-4D97-AF65-F5344CB8AC3E}">
        <p14:creationId xmlns:p14="http://schemas.microsoft.com/office/powerpoint/2010/main" val="298048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2026-10-05T06:07:52.2790000Z</dcterms:created>
  <dcterms:modified xsi:type="dcterms:W3CDTF">2026-10-05T06:07:52.2790000Z</dcterms:modified>
</coreProperties>
</file>